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24" roundtripDataSignature="AMtx7miR1QtnEe6svA81rAXcvPjn66Z2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a1a1f0c1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g3a1a1f0c1f9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a1a1f0c1f9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a1a1f0c1f9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1a1f0c1f9_1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a1a1f0c1f9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 b="1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" name="Google Shape;20;p1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" name="Google Shape;21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4" name="Google Shape;24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2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2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6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488050" y="670200"/>
            <a:ext cx="8520600" cy="1087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es-MX"/>
              <a:t>Sistema de vuelos</a:t>
            </a:r>
            <a:r>
              <a:rPr lang="es-MX"/>
              <a:t> </a:t>
            </a:r>
            <a:endParaRPr/>
          </a:p>
        </p:txBody>
      </p:sp>
      <p:sp>
        <p:nvSpPr>
          <p:cNvPr id="55" name="Google Shape;55;p1"/>
          <p:cNvSpPr txBox="1"/>
          <p:nvPr>
            <p:ph idx="1" type="subTitle"/>
          </p:nvPr>
        </p:nvSpPr>
        <p:spPr>
          <a:xfrm>
            <a:off x="623400" y="2000938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s-MX"/>
              <a:t>comisión 6 de Estructura de datos</a:t>
            </a:r>
            <a:r>
              <a:rPr lang="es-MX"/>
              <a:t> </a:t>
            </a:r>
            <a:endParaRPr/>
          </a:p>
        </p:txBody>
      </p:sp>
      <p:sp>
        <p:nvSpPr>
          <p:cNvPr id="56" name="Google Shape;56;p1"/>
          <p:cNvSpPr txBox="1"/>
          <p:nvPr/>
        </p:nvSpPr>
        <p:spPr>
          <a:xfrm>
            <a:off x="1633950" y="3544075"/>
            <a:ext cx="5972100" cy="13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MX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Alumnos:</a:t>
            </a:r>
            <a:endParaRPr b="1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MX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Andrade David </a:t>
            </a:r>
            <a:endParaRPr b="1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MX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Matias Coronel</a:t>
            </a:r>
            <a:endParaRPr b="1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MX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Mariela Perez Santangelo</a:t>
            </a:r>
            <a:endParaRPr b="1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 txBox="1"/>
          <p:nvPr>
            <p:ph idx="1" type="subTitle"/>
          </p:nvPr>
        </p:nvSpPr>
        <p:spPr>
          <a:xfrm>
            <a:off x="311700" y="1600200"/>
            <a:ext cx="8520600" cy="202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s-MX">
                <a:solidFill>
                  <a:schemeClr val="dk1"/>
                </a:solidFill>
              </a:rPr>
              <a:t>Proyecto que modela un sistema de reservas de vuelos con manejo de pasajeros, vuelos, reservas y rutas.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"/>
          <p:cNvSpPr txBox="1"/>
          <p:nvPr>
            <p:ph type="title"/>
          </p:nvPr>
        </p:nvSpPr>
        <p:spPr>
          <a:xfrm>
            <a:off x="1382232" y="353119"/>
            <a:ext cx="8832300" cy="126673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-MX" sz="3600">
                <a:solidFill>
                  <a:srgbClr val="000000"/>
                </a:solidFill>
              </a:rPr>
              <a:t>Árbol de archivos</a:t>
            </a:r>
            <a:endParaRPr b="1" sz="3600">
              <a:solidFill>
                <a:srgbClr val="000000"/>
              </a:solidFill>
            </a:endParaRPr>
          </a:p>
        </p:txBody>
      </p:sp>
      <p:sp>
        <p:nvSpPr>
          <p:cNvPr id="67" name="Google Shape;67;p3"/>
          <p:cNvSpPr txBox="1"/>
          <p:nvPr/>
        </p:nvSpPr>
        <p:spPr>
          <a:xfrm>
            <a:off x="2089471" y="1417834"/>
            <a:ext cx="4653358" cy="29452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0000" lnSpcReduction="20000"/>
          </a:bodyPr>
          <a:lstStyle/>
          <a:p>
            <a:pPr indent="-20066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1" marL="742950" marR="0" rtl="0" algn="l">
              <a:lnSpc>
                <a:spcPct val="100000"/>
              </a:lnSpc>
              <a:spcBef>
                <a:spcPts val="392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–"/>
            </a:pPr>
            <a:r>
              <a:rPr b="0" i="0" lang="es-MX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main.py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392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–"/>
            </a:pPr>
            <a:r>
              <a:rPr b="0" i="0" lang="es-MX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menu_arbol.py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1" marL="742950" marR="0" rtl="0" algn="l">
              <a:lnSpc>
                <a:spcPct val="100000"/>
              </a:lnSpc>
              <a:spcBef>
                <a:spcPts val="392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–"/>
            </a:pPr>
            <a:r>
              <a:rPr b="0" i="0" lang="es-MX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pasajero.py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392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–"/>
            </a:pPr>
            <a:r>
              <a:rPr b="0" i="0" lang="es-MX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vuelo.py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392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–"/>
            </a:pPr>
            <a:r>
              <a:rPr b="0" i="0" lang="es-MX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reserva.py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392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–"/>
            </a:pPr>
            <a:r>
              <a:rPr b="0" i="0" lang="es-MX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grafos_vuelos.py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392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–"/>
            </a:pPr>
            <a:r>
              <a:rPr b="0" i="0" lang="es-MX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arbol_pasajeros.py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392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–"/>
            </a:pPr>
            <a:r>
              <a:rPr b="0" i="0" lang="es-MX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pasajeros.csv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3"/>
          <p:cNvSpPr txBox="1"/>
          <p:nvPr>
            <p:ph type="title"/>
          </p:nvPr>
        </p:nvSpPr>
        <p:spPr>
          <a:xfrm>
            <a:off x="237175" y="1095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-MX" sz="2020"/>
              <a:t>UML (Unified Modeling </a:t>
            </a:r>
            <a:r>
              <a:rPr lang="es-MX" sz="2020"/>
              <a:t>Language</a:t>
            </a:r>
            <a:r>
              <a:rPr lang="es-MX" sz="2020"/>
              <a:t> - Lenguaje unificado de modelado)</a:t>
            </a:r>
            <a:endParaRPr sz="2020"/>
          </a:p>
        </p:txBody>
      </p:sp>
      <p:pic>
        <p:nvPicPr>
          <p:cNvPr id="73" name="Google Shape;73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682275"/>
            <a:ext cx="8681001" cy="4461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"/>
          <p:cNvSpPr txBox="1"/>
          <p:nvPr>
            <p:ph type="title"/>
          </p:nvPr>
        </p:nvSpPr>
        <p:spPr>
          <a:xfrm>
            <a:off x="370500" y="407275"/>
            <a:ext cx="8520600" cy="7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b="1" lang="es-MX" sz="2400"/>
              <a:t>Estructura de Clases y Relaciones del Sistema de Vuelos</a:t>
            </a:r>
            <a:endParaRPr b="1" sz="2400"/>
          </a:p>
        </p:txBody>
      </p:sp>
      <p:sp>
        <p:nvSpPr>
          <p:cNvPr id="79" name="Google Shape;79;p4"/>
          <p:cNvSpPr txBox="1"/>
          <p:nvPr>
            <p:ph idx="1" type="body"/>
          </p:nvPr>
        </p:nvSpPr>
        <p:spPr>
          <a:xfrm>
            <a:off x="311700" y="1152475"/>
            <a:ext cx="85206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-MX" sz="970">
                <a:solidFill>
                  <a:schemeClr val="dk1"/>
                </a:solidFill>
              </a:rPr>
              <a:t>En el siguiente diagrama se representa el </a:t>
            </a:r>
            <a:r>
              <a:rPr b="1" lang="es-MX" sz="970">
                <a:solidFill>
                  <a:schemeClr val="dk1"/>
                </a:solidFill>
              </a:rPr>
              <a:t>modelo de clases</a:t>
            </a:r>
            <a:r>
              <a:rPr lang="es-MX" sz="970">
                <a:solidFill>
                  <a:schemeClr val="dk1"/>
                </a:solidFill>
              </a:rPr>
              <a:t> del sistema de gestión de vuelos.</a:t>
            </a:r>
            <a:endParaRPr sz="97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lang="es-MX" sz="970">
                <a:solidFill>
                  <a:schemeClr val="dk1"/>
                </a:solidFill>
              </a:rPr>
              <a:t>Cada clase  contiene  sus propios datos y métodos, lo que permite mantener la información organizada .</a:t>
            </a:r>
            <a:endParaRPr sz="970">
              <a:solidFill>
                <a:schemeClr val="dk1"/>
              </a:solidFill>
            </a:endParaRPr>
          </a:p>
          <a:p>
            <a:pPr indent="-290195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b="1" lang="es-MX" sz="970">
                <a:solidFill>
                  <a:schemeClr val="dk1"/>
                </a:solidFill>
              </a:rPr>
              <a:t>Pasajero</a:t>
            </a:r>
            <a:r>
              <a:rPr lang="es-MX" sz="970">
                <a:solidFill>
                  <a:schemeClr val="dk1"/>
                </a:solidFill>
              </a:rPr>
              <a:t>: almacena los datos personales y el historial de vuelos del cliente y el equipaje. El equipaje se asocia directamente al pasajero, registrando la cantidad y el peso total de las maletas.</a:t>
            </a:r>
            <a:br>
              <a:rPr lang="es-MX" sz="970">
                <a:solidFill>
                  <a:schemeClr val="dk1"/>
                </a:solidFill>
              </a:rPr>
            </a:br>
            <a:endParaRPr sz="970">
              <a:solidFill>
                <a:schemeClr val="dk1"/>
              </a:solidFill>
            </a:endParaRPr>
          </a:p>
          <a:p>
            <a:pPr indent="-2901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b="1" lang="es-MX" sz="970">
                <a:solidFill>
                  <a:schemeClr val="dk1"/>
                </a:solidFill>
              </a:rPr>
              <a:t>Vuelo</a:t>
            </a:r>
            <a:r>
              <a:rPr lang="es-MX" sz="970">
                <a:solidFill>
                  <a:schemeClr val="dk1"/>
                </a:solidFill>
              </a:rPr>
              <a:t>: contiene la información del vuelo, como el código, destino, fecha y lista de pasajeros.</a:t>
            </a:r>
            <a:br>
              <a:rPr lang="es-MX" sz="970">
                <a:solidFill>
                  <a:schemeClr val="dk1"/>
                </a:solidFill>
              </a:rPr>
            </a:br>
            <a:endParaRPr sz="970">
              <a:solidFill>
                <a:schemeClr val="dk1"/>
              </a:solidFill>
            </a:endParaRPr>
          </a:p>
          <a:p>
            <a:pPr indent="-2901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b="1" lang="es-MX" sz="970">
                <a:solidFill>
                  <a:schemeClr val="dk1"/>
                </a:solidFill>
              </a:rPr>
              <a:t>Reserva</a:t>
            </a:r>
            <a:r>
              <a:rPr lang="es-MX" sz="970">
                <a:solidFill>
                  <a:schemeClr val="dk1"/>
                </a:solidFill>
              </a:rPr>
              <a:t>: actúa como vínculo entre un pasajero y un vuelo, controlando la disponibilidad de cupos y evitando duplicaciones.</a:t>
            </a:r>
            <a:br>
              <a:rPr lang="es-MX" sz="970">
                <a:solidFill>
                  <a:schemeClr val="dk1"/>
                </a:solidFill>
              </a:rPr>
            </a:br>
            <a:endParaRPr sz="97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97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lang="es-MX" sz="970">
                <a:solidFill>
                  <a:schemeClr val="dk1"/>
                </a:solidFill>
              </a:rPr>
              <a:t>Las  flechas entre las clases muestran las </a:t>
            </a:r>
            <a:r>
              <a:rPr b="1" lang="es-MX" sz="970">
                <a:solidFill>
                  <a:schemeClr val="dk1"/>
                </a:solidFill>
              </a:rPr>
              <a:t>relaciones</a:t>
            </a:r>
            <a:r>
              <a:rPr lang="es-MX" sz="970">
                <a:solidFill>
                  <a:schemeClr val="dk1"/>
                </a:solidFill>
              </a:rPr>
              <a:t>:</a:t>
            </a:r>
            <a:endParaRPr sz="970">
              <a:solidFill>
                <a:schemeClr val="dk1"/>
              </a:solidFill>
            </a:endParaRPr>
          </a:p>
          <a:p>
            <a:pPr indent="-290195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-MX" sz="970">
                <a:solidFill>
                  <a:schemeClr val="dk1"/>
                </a:solidFill>
              </a:rPr>
              <a:t>Un pasajero puede realizar diferentes vuelos a  su vez un vuelo lleva muchos pasajeros</a:t>
            </a:r>
            <a:endParaRPr sz="970">
              <a:solidFill>
                <a:schemeClr val="dk1"/>
              </a:solidFill>
            </a:endParaRPr>
          </a:p>
          <a:p>
            <a:pPr indent="-2901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-MX" sz="970">
                <a:solidFill>
                  <a:schemeClr val="dk1"/>
                </a:solidFill>
              </a:rPr>
              <a:t>Un pasajero puede realizar varias reservas</a:t>
            </a:r>
            <a:endParaRPr sz="970">
              <a:solidFill>
                <a:schemeClr val="dk1"/>
              </a:solidFill>
            </a:endParaRPr>
          </a:p>
          <a:p>
            <a:pPr indent="-2901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-MX" sz="970">
                <a:solidFill>
                  <a:schemeClr val="dk1"/>
                </a:solidFill>
              </a:rPr>
              <a:t>Cada reserva corresponde a un solo vuelo, pero un vuelo puede tener muchas reservas.</a:t>
            </a:r>
            <a:endParaRPr sz="97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97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t/>
            </a:r>
            <a:endParaRPr sz="97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5"/>
          <p:cNvSpPr txBox="1"/>
          <p:nvPr>
            <p:ph type="title"/>
          </p:nvPr>
        </p:nvSpPr>
        <p:spPr>
          <a:xfrm>
            <a:off x="179450" y="2545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es-MX"/>
              <a:t>Concepto de Encapsulamiento</a:t>
            </a:r>
            <a:endParaRPr b="1"/>
          </a:p>
        </p:txBody>
      </p:sp>
      <p:sp>
        <p:nvSpPr>
          <p:cNvPr id="85" name="Google Shape;85;p5"/>
          <p:cNvSpPr txBox="1"/>
          <p:nvPr>
            <p:ph idx="1" type="body"/>
          </p:nvPr>
        </p:nvSpPr>
        <p:spPr>
          <a:xfrm>
            <a:off x="179450" y="939050"/>
            <a:ext cx="8520600" cy="13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s-MX">
                <a:solidFill>
                  <a:schemeClr val="dk1"/>
                </a:solidFill>
              </a:rPr>
              <a:t>Se utiliza para ocultar los atributos internos del objeto y restringir el acceso directo desde fuera de la clase ya que los atributos no deben poder modificarse por fuera.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86" name="Google Shape;86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4525" y="2323175"/>
            <a:ext cx="3786000" cy="247249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5"/>
          <p:cNvSpPr txBox="1"/>
          <p:nvPr/>
        </p:nvSpPr>
        <p:spPr>
          <a:xfrm>
            <a:off x="4914050" y="2323175"/>
            <a:ext cx="3786000" cy="24384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dk1"/>
                </a:solidFill>
              </a:rPr>
              <a:t>lo utilizamos definiendo una </a:t>
            </a:r>
            <a:r>
              <a:rPr lang="es-MX" sz="1800">
                <a:solidFill>
                  <a:schemeClr val="dk1"/>
                </a:solidFill>
              </a:rPr>
              <a:t>función</a:t>
            </a:r>
            <a:r>
              <a:rPr lang="es-MX" sz="1800">
                <a:solidFill>
                  <a:schemeClr val="dk1"/>
                </a:solidFill>
              </a:rPr>
              <a:t> privada _buscar que ejecuta la </a:t>
            </a:r>
            <a:r>
              <a:rPr lang="es-MX" sz="1800">
                <a:solidFill>
                  <a:schemeClr val="dk1"/>
                </a:solidFill>
              </a:rPr>
              <a:t>búsqueda</a:t>
            </a:r>
            <a:r>
              <a:rPr lang="es-MX" sz="1800">
                <a:solidFill>
                  <a:schemeClr val="dk1"/>
                </a:solidFill>
              </a:rPr>
              <a:t> en el </a:t>
            </a:r>
            <a:r>
              <a:rPr lang="es-MX" sz="1800">
                <a:solidFill>
                  <a:schemeClr val="dk1"/>
                </a:solidFill>
              </a:rPr>
              <a:t>árbol</a:t>
            </a:r>
            <a:r>
              <a:rPr lang="es-MX" sz="1800">
                <a:solidFill>
                  <a:schemeClr val="dk1"/>
                </a:solidFill>
              </a:rPr>
              <a:t> de pasajeros pero se accede mediante una </a:t>
            </a:r>
            <a:r>
              <a:rPr lang="es-MX" sz="1800">
                <a:solidFill>
                  <a:schemeClr val="dk1"/>
                </a:solidFill>
              </a:rPr>
              <a:t>función</a:t>
            </a:r>
            <a:r>
              <a:rPr lang="es-MX" sz="1800">
                <a:solidFill>
                  <a:schemeClr val="dk1"/>
                </a:solidFill>
              </a:rPr>
              <a:t> </a:t>
            </a:r>
            <a:r>
              <a:rPr lang="es-MX" sz="1800">
                <a:solidFill>
                  <a:schemeClr val="dk1"/>
                </a:solidFill>
              </a:rPr>
              <a:t>pública</a:t>
            </a:r>
            <a:r>
              <a:rPr lang="es-MX" sz="1800">
                <a:solidFill>
                  <a:schemeClr val="dk1"/>
                </a:solidFill>
              </a:rPr>
              <a:t> “buscar” que solo recibe el elemento a buscar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"/>
          <p:cNvSpPr txBox="1"/>
          <p:nvPr>
            <p:ph type="title"/>
          </p:nvPr>
        </p:nvSpPr>
        <p:spPr>
          <a:xfrm>
            <a:off x="179450" y="12679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es-MX"/>
              <a:t>Listas vs pilas</a:t>
            </a:r>
            <a:endParaRPr b="1"/>
          </a:p>
        </p:txBody>
      </p:sp>
      <p:sp>
        <p:nvSpPr>
          <p:cNvPr id="93" name="Google Shape;93;p6"/>
          <p:cNvSpPr txBox="1"/>
          <p:nvPr>
            <p:ph idx="1" type="body"/>
          </p:nvPr>
        </p:nvSpPr>
        <p:spPr>
          <a:xfrm>
            <a:off x="179450" y="1768675"/>
            <a:ext cx="8520600" cy="26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167005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rPr lang="es-MX" sz="1800">
                <a:solidFill>
                  <a:schemeClr val="dk1"/>
                </a:solidFill>
              </a:rPr>
              <a:t>Para  este trabajo (hasta el momento de la primer revision) usamos listas ordenadas de pasajeros y vuelos.</a:t>
            </a:r>
            <a:endParaRPr/>
          </a:p>
          <a:p>
            <a:pPr indent="0" lvl="0" marL="167005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rPr lang="es-MX" sz="1800">
                <a:solidFill>
                  <a:schemeClr val="dk1"/>
                </a:solidFill>
              </a:rPr>
              <a:t>	El uso de pilas en este caso y su definicion de LIFO nos impidio la selección de elementos intermedios para su </a:t>
            </a:r>
            <a:r>
              <a:rPr lang="es-MX">
                <a:solidFill>
                  <a:schemeClr val="dk1"/>
                </a:solidFill>
              </a:rPr>
              <a:t>eliminación</a:t>
            </a:r>
            <a:r>
              <a:rPr lang="es-MX" sz="1800">
                <a:solidFill>
                  <a:schemeClr val="dk1"/>
                </a:solidFill>
              </a:rPr>
              <a:t> o b</a:t>
            </a:r>
            <a:r>
              <a:rPr lang="es-MX">
                <a:solidFill>
                  <a:schemeClr val="dk1"/>
                </a:solidFill>
              </a:rPr>
              <a:t>ú</a:t>
            </a:r>
            <a:r>
              <a:rPr lang="es-MX" sz="1800">
                <a:solidFill>
                  <a:schemeClr val="dk1"/>
                </a:solidFill>
              </a:rPr>
              <a:t>squeda eficiente.</a:t>
            </a:r>
            <a:endParaRPr sz="1800">
              <a:solidFill>
                <a:schemeClr val="dk1"/>
              </a:solidFill>
            </a:endParaRPr>
          </a:p>
          <a:p>
            <a:pPr indent="0" lvl="0" marL="167005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rPr lang="es-MX">
                <a:solidFill>
                  <a:schemeClr val="dk1"/>
                </a:solidFill>
              </a:rPr>
              <a:t>Por esta </a:t>
            </a:r>
            <a:r>
              <a:rPr lang="es-MX">
                <a:solidFill>
                  <a:schemeClr val="dk1"/>
                </a:solidFill>
              </a:rPr>
              <a:t>razón</a:t>
            </a:r>
            <a:r>
              <a:rPr lang="es-MX">
                <a:solidFill>
                  <a:schemeClr val="dk1"/>
                </a:solidFill>
              </a:rPr>
              <a:t> pasamos a representar los vuelos como GRAFOS y el listado de pasajeros dentro de un ARBOL BINARIO BALANCEADO</a:t>
            </a:r>
            <a:endParaRPr>
              <a:solidFill>
                <a:schemeClr val="dk1"/>
              </a:solidFill>
            </a:endParaRPr>
          </a:p>
          <a:p>
            <a:pPr indent="0" lvl="0" marL="167005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rPr b="1" lang="es-MX">
                <a:solidFill>
                  <a:schemeClr val="dk1"/>
                </a:solidFill>
              </a:rPr>
              <a:t>	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7"/>
          <p:cNvSpPr txBox="1"/>
          <p:nvPr>
            <p:ph type="title"/>
          </p:nvPr>
        </p:nvSpPr>
        <p:spPr>
          <a:xfrm>
            <a:off x="311700" y="1773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es-MX"/>
              <a:t>Archivo </a:t>
            </a:r>
            <a:r>
              <a:rPr b="1" lang="es-MX"/>
              <a:t>main.py</a:t>
            </a:r>
            <a:endParaRPr/>
          </a:p>
        </p:txBody>
      </p:sp>
      <p:sp>
        <p:nvSpPr>
          <p:cNvPr id="99" name="Google Shape;99;p7"/>
          <p:cNvSpPr txBox="1"/>
          <p:nvPr>
            <p:ph idx="1" type="body"/>
          </p:nvPr>
        </p:nvSpPr>
        <p:spPr>
          <a:xfrm>
            <a:off x="311700" y="650202"/>
            <a:ext cx="8520600" cy="41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167005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rPr lang="es-MX">
                <a:solidFill>
                  <a:schemeClr val="dk1"/>
                </a:solidFill>
              </a:rPr>
              <a:t>	 </a:t>
            </a:r>
            <a:r>
              <a:rPr b="1" lang="es-MX">
                <a:solidFill>
                  <a:schemeClr val="dk1"/>
                </a:solidFill>
              </a:rPr>
              <a:t>Punto de entrada</a:t>
            </a:r>
            <a:r>
              <a:rPr lang="es-MX">
                <a:solidFill>
                  <a:schemeClr val="dk1"/>
                </a:solidFill>
              </a:rPr>
              <a:t>,e</a:t>
            </a:r>
            <a:r>
              <a:rPr b="1" lang="es-MX">
                <a:solidFill>
                  <a:schemeClr val="dk1"/>
                </a:solidFill>
              </a:rPr>
              <a:t>stablece  la ruta del csv </a:t>
            </a:r>
            <a:r>
              <a:rPr lang="es-MX">
                <a:solidFill>
                  <a:schemeClr val="dk1"/>
                </a:solidFill>
              </a:rPr>
              <a:t>,</a:t>
            </a:r>
            <a:r>
              <a:rPr b="1" lang="es-MX">
                <a:solidFill>
                  <a:schemeClr val="dk1"/>
                </a:solidFill>
              </a:rPr>
              <a:t> Carga pasajeros, Reservas anteriores y</a:t>
            </a:r>
            <a:r>
              <a:rPr lang="es-MX">
                <a:solidFill>
                  <a:schemeClr val="dk1"/>
                </a:solidFill>
              </a:rPr>
              <a:t> </a:t>
            </a:r>
            <a:r>
              <a:rPr b="1" lang="es-MX">
                <a:solidFill>
                  <a:schemeClr val="dk1"/>
                </a:solidFill>
              </a:rPr>
              <a:t>abre el menú.</a:t>
            </a:r>
            <a:endParaRPr/>
          </a:p>
          <a:p>
            <a:pPr indent="0" lvl="0" marL="167005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167005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2446257" y="2417862"/>
            <a:ext cx="23436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85660" y="1539222"/>
            <a:ext cx="4572676" cy="327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8"/>
          <p:cNvSpPr txBox="1"/>
          <p:nvPr>
            <p:ph type="title"/>
          </p:nvPr>
        </p:nvSpPr>
        <p:spPr>
          <a:xfrm>
            <a:off x="254350" y="1199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1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es-MX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Archivo </a:t>
            </a:r>
            <a:r>
              <a:rPr b="1" lang="es-MX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menu_arbol.py</a:t>
            </a:r>
            <a:br>
              <a:rPr b="1" lang="es-MX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/>
          </a:p>
        </p:txBody>
      </p:sp>
      <p:sp>
        <p:nvSpPr>
          <p:cNvPr id="107" name="Google Shape;107;p8"/>
          <p:cNvSpPr txBox="1"/>
          <p:nvPr>
            <p:ph idx="1" type="body"/>
          </p:nvPr>
        </p:nvSpPr>
        <p:spPr>
          <a:xfrm>
            <a:off x="104650" y="1151050"/>
            <a:ext cx="1902900" cy="26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286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60"/>
              <a:buNone/>
            </a:pPr>
            <a:r>
              <a:rPr lang="es-MX" sz="1360">
                <a:solidFill>
                  <a:schemeClr val="dk1"/>
                </a:solidFill>
              </a:rPr>
              <a:t>se divide en la Clase Menu, que genera un arbol donde el constructor del menú crea sus niveles y acciones.</a:t>
            </a:r>
            <a:endParaRPr sz="1360">
              <a:solidFill>
                <a:schemeClr val="dk1"/>
              </a:solidFill>
            </a:endParaRPr>
          </a:p>
        </p:txBody>
      </p:sp>
      <p:pic>
        <p:nvPicPr>
          <p:cNvPr id="108" name="Google Shape;108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7558" y="845050"/>
            <a:ext cx="3267091" cy="412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27098" y="845050"/>
            <a:ext cx="3564502" cy="3176494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8"/>
          <p:cNvSpPr txBox="1"/>
          <p:nvPr>
            <p:ph idx="1" type="body"/>
          </p:nvPr>
        </p:nvSpPr>
        <p:spPr>
          <a:xfrm>
            <a:off x="5355300" y="4173950"/>
            <a:ext cx="35646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60"/>
              <a:buNone/>
            </a:pPr>
            <a:r>
              <a:rPr lang="es-MX" sz="1360">
                <a:solidFill>
                  <a:schemeClr val="dk1"/>
                </a:solidFill>
              </a:rPr>
              <a:t>la ejecucion de la clase para el diseño de los niveles y opciones definidas en cada item.</a:t>
            </a:r>
            <a:endParaRPr sz="136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es-MX"/>
              <a:t>Archivo: pasajero.py </a:t>
            </a:r>
            <a:endParaRPr b="1"/>
          </a:p>
        </p:txBody>
      </p:sp>
      <p:sp>
        <p:nvSpPr>
          <p:cNvPr id="116" name="Google Shape;116;p9"/>
          <p:cNvSpPr txBox="1"/>
          <p:nvPr>
            <p:ph idx="1" type="body"/>
          </p:nvPr>
        </p:nvSpPr>
        <p:spPr>
          <a:xfrm>
            <a:off x="64450" y="1969560"/>
            <a:ext cx="3999900" cy="222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s-MX">
                <a:solidFill>
                  <a:schemeClr val="dk1"/>
                </a:solidFill>
              </a:rPr>
              <a:t>Define la clase Pasajero 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s-MX">
                <a:solidFill>
                  <a:schemeClr val="dk1"/>
                </a:solidFill>
              </a:rPr>
              <a:t>Guarda dni, nombre, nacionalidad 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s-MX">
                <a:solidFill>
                  <a:schemeClr val="dk1"/>
                </a:solidFill>
              </a:rPr>
              <a:t>Realiza el ingreso de equipaje.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s-MX">
                <a:solidFill>
                  <a:schemeClr val="dk1"/>
                </a:solidFill>
              </a:rPr>
              <a:t>Se controla el peso total del equipaje.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s-MX">
                <a:solidFill>
                  <a:schemeClr val="dk1"/>
                </a:solidFill>
              </a:rPr>
              <a:t>Se definen las funciones de carga previa, y agregado o eliminacion de pasajeros al archivo pasajero.csv como guardado permanente de los datos. </a:t>
            </a:r>
            <a:endParaRPr b="1">
              <a:solidFill>
                <a:schemeClr val="dk1"/>
              </a:solidFill>
            </a:endParaRPr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pic>
        <p:nvPicPr>
          <p:cNvPr id="117" name="Google Shape;117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54977" y="1170125"/>
            <a:ext cx="3635283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-MX"/>
              <a:t> Árbol AVL</a:t>
            </a:r>
            <a:endParaRPr/>
          </a:p>
        </p:txBody>
      </p:sp>
      <p:sp>
        <p:nvSpPr>
          <p:cNvPr id="123" name="Google Shape;123;p11"/>
          <p:cNvSpPr txBox="1"/>
          <p:nvPr>
            <p:ph idx="1" type="body"/>
          </p:nvPr>
        </p:nvSpPr>
        <p:spPr>
          <a:xfrm>
            <a:off x="311700" y="1152475"/>
            <a:ext cx="8520600" cy="39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rPr lang="es-MX">
                <a:solidFill>
                  <a:schemeClr val="dk1"/>
                </a:solidFill>
              </a:rPr>
              <a:t>Un árbol AVL es un </a:t>
            </a:r>
            <a:r>
              <a:rPr b="1" lang="es-MX">
                <a:solidFill>
                  <a:schemeClr val="dk1"/>
                </a:solidFill>
              </a:rPr>
              <a:t>árbol binario de búsqueda auto-</a:t>
            </a:r>
            <a:r>
              <a:rPr lang="es-MX">
                <a:solidFill>
                  <a:schemeClr val="dk1"/>
                </a:solidFill>
              </a:rPr>
              <a:t>balanceado. desarrollado por los mateticos sovieticos Adelson-Velskii y Landis en 1962</a:t>
            </a:r>
            <a:endParaRPr>
              <a:solidFill>
                <a:schemeClr val="dk1"/>
              </a:solidFill>
            </a:endParaRPr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t/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rPr lang="es-MX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 principal característica de un árbol AVL es que mantiene un equilibrio para asegurar que las operaciones de búsqueda, inserción y eliminación tengan una complejidad de tiempo de 𝑂(log𝑛)</a:t>
            </a:r>
            <a:endParaRPr/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t/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rPr lang="es-MX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factor de equilibrio debe ser  FE= altura derecha – altura izquierda =(0,1,-1)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rPr lang="es-MX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 la resta de las alturas no se encuentra entre esos valores significa que el árbol esta desequilibrado.</a:t>
            </a:r>
            <a:endParaRPr/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t/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rPr lang="es-MX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Existen 4 formas en las que se equilibra el árbol: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Font typeface="Arial"/>
              <a:buChar char="•"/>
            </a:pPr>
            <a:r>
              <a:rPr lang="es-MX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Simple a la Derecha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Font typeface="Arial"/>
              <a:buChar char="•"/>
            </a:pPr>
            <a:r>
              <a:rPr lang="es-MX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Simple a la Izquierda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Font typeface="Arial"/>
              <a:buChar char="•"/>
            </a:pPr>
            <a:r>
              <a:rPr lang="es-MX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Doble a la Izquierda(izquierda-derecha)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7647"/>
              <a:buFont typeface="Arial"/>
              <a:buChar char="•"/>
            </a:pPr>
            <a:r>
              <a:rPr lang="es-MX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Doble a la Derecha (derecha-derecha)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ata:image/gif;base64,R0lGODlhAQABAIAAAP///wAAACH5BAEAAAAALAAAAAABAAEAAAICRAEAOw==" id="124" name="Google Shape;124;p11"/>
          <p:cNvSpPr/>
          <p:nvPr/>
        </p:nvSpPr>
        <p:spPr>
          <a:xfrm>
            <a:off x="155575" y="-13652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ata:image/gif;base64,R0lGODlhAQABAIAAAP///wAAACH5BAEAAAAALAAAAAABAAEAAAICRAEAOw==" id="125" name="Google Shape;125;p11"/>
          <p:cNvSpPr/>
          <p:nvPr/>
        </p:nvSpPr>
        <p:spPr>
          <a:xfrm>
            <a:off x="155575" y="-274638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es-MX"/>
              <a:t>Archivo:  Arbol_pasajero.py</a:t>
            </a:r>
            <a:endParaRPr b="1"/>
          </a:p>
        </p:txBody>
      </p:sp>
      <p:sp>
        <p:nvSpPr>
          <p:cNvPr id="131" name="Google Shape;131;p10"/>
          <p:cNvSpPr txBox="1"/>
          <p:nvPr>
            <p:ph idx="1" type="body"/>
          </p:nvPr>
        </p:nvSpPr>
        <p:spPr>
          <a:xfrm>
            <a:off x="311700" y="1152475"/>
            <a:ext cx="3999900" cy="16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s-MX">
                <a:solidFill>
                  <a:schemeClr val="dk1"/>
                </a:solidFill>
              </a:rPr>
              <a:t>Crea el Árbol AVL para almacenar los pasajeros.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s-MX">
                <a:solidFill>
                  <a:schemeClr val="dk1"/>
                </a:solidFill>
              </a:rPr>
              <a:t>Uso de árbol AVL → permite búsquedas rápidas por DNI.</a:t>
            </a:r>
            <a:endParaRPr/>
          </a:p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2" name="Google Shape;132;p10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138" name="Google Shape;138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139" name="Google Shape;139;p12" title="Vuelo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2"/>
          <p:cNvSpPr txBox="1"/>
          <p:nvPr/>
        </p:nvSpPr>
        <p:spPr>
          <a:xfrm>
            <a:off x="4831125" y="251325"/>
            <a:ext cx="3420300" cy="4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2300" u="sng">
                <a:solidFill>
                  <a:schemeClr val="dk1"/>
                </a:solidFill>
              </a:rPr>
              <a:t>Grafo de aeropuertos</a:t>
            </a:r>
            <a:endParaRPr b="1" sz="2300" u="sng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es-MX"/>
              <a:t>Archivo:  grafos_vuelos.py</a:t>
            </a:r>
            <a:endParaRPr b="1"/>
          </a:p>
        </p:txBody>
      </p:sp>
      <p:sp>
        <p:nvSpPr>
          <p:cNvPr id="146" name="Google Shape;146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11430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es-MX">
                <a:solidFill>
                  <a:schemeClr val="dk1"/>
                </a:solidFill>
              </a:rPr>
              <a:t>Realizamos un grafo para representar las conexiones  y escalas de vuelos </a:t>
            </a:r>
            <a:endParaRPr b="0"/>
          </a:p>
          <a:p>
            <a:pPr indent="0" lvl="0" marL="11430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es-MX">
                <a:solidFill>
                  <a:schemeClr val="dk1"/>
                </a:solidFill>
              </a:rPr>
              <a:t>Por lo tanto nuestro grafo es: Dirigido y Ponderado(tiene peso)</a:t>
            </a:r>
            <a:endParaRPr b="0"/>
          </a:p>
          <a:p>
            <a:pPr indent="-228600" lvl="0" marL="45720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0" lang="es-MX">
                <a:solidFill>
                  <a:schemeClr val="dk1"/>
                </a:solidFill>
              </a:rPr>
              <a:t>cada aeropuerto es un nodo,</a:t>
            </a:r>
            <a:endParaRPr b="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0" lang="es-MX">
                <a:solidFill>
                  <a:schemeClr val="dk1"/>
                </a:solidFill>
              </a:rPr>
              <a:t>cada vuelo es una conexión,</a:t>
            </a:r>
            <a:endParaRPr b="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0" lang="es-MX">
                <a:solidFill>
                  <a:schemeClr val="dk1"/>
                </a:solidFill>
              </a:rPr>
              <a:t>y la duración del vuelo es el peso de esa conexión.</a:t>
            </a:r>
            <a:endParaRPr b="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0" lang="es-MX">
                <a:solidFill>
                  <a:schemeClr val="dk1"/>
                </a:solidFill>
              </a:rPr>
              <a:t>Con esto, el sistema puede calcular la ruta más rápida entre dos aeropuertos(</a:t>
            </a:r>
            <a:r>
              <a:rPr b="0" lang="es-MX">
                <a:solidFill>
                  <a:schemeClr val="dk1"/>
                </a:solidFill>
              </a:rPr>
              <a:t>Se usa </a:t>
            </a:r>
            <a:r>
              <a:rPr lang="es-MX">
                <a:solidFill>
                  <a:schemeClr val="dk1"/>
                </a:solidFill>
              </a:rPr>
              <a:t>Dijkstra</a:t>
            </a:r>
            <a:r>
              <a:rPr b="0" lang="es-MX">
                <a:solidFill>
                  <a:schemeClr val="dk1"/>
                </a:solidFill>
              </a:rPr>
              <a:t> para obtener la ruta más rápida</a:t>
            </a:r>
            <a:r>
              <a:rPr b="0" lang="es-MX">
                <a:solidFill>
                  <a:schemeClr val="dk1"/>
                </a:solidFill>
              </a:rPr>
              <a:t>)</a:t>
            </a:r>
            <a:r>
              <a:rPr b="0" lang="es-MX"/>
              <a:t>,</a:t>
            </a:r>
            <a:r>
              <a:rPr b="0" lang="es-MX">
                <a:solidFill>
                  <a:schemeClr val="dk1"/>
                </a:solidFill>
              </a:rPr>
              <a:t> la ruta mas corta en cantidad de vuelos (</a:t>
            </a:r>
            <a:r>
              <a:rPr lang="es-MX">
                <a:solidFill>
                  <a:schemeClr val="dk1"/>
                </a:solidFill>
              </a:rPr>
              <a:t>BFS</a:t>
            </a:r>
            <a:r>
              <a:rPr b="0" lang="es-MX">
                <a:solidFill>
                  <a:schemeClr val="dk1"/>
                </a:solidFill>
              </a:rPr>
              <a:t>) Y una ruta posible (</a:t>
            </a:r>
            <a:r>
              <a:rPr lang="es-MX">
                <a:solidFill>
                  <a:schemeClr val="dk1"/>
                </a:solidFill>
              </a:rPr>
              <a:t>DFS</a:t>
            </a:r>
            <a:r>
              <a:rPr b="0" lang="es-MX">
                <a:solidFill>
                  <a:schemeClr val="dk1"/>
                </a:solidFill>
              </a:rPr>
              <a:t>) </a:t>
            </a:r>
            <a:endParaRPr b="0">
              <a:solidFill>
                <a:schemeClr val="dk1"/>
              </a:solidFill>
            </a:endParaRPr>
          </a:p>
          <a:p>
            <a:pPr indent="-228600" lvl="0" marL="45720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es-MX">
                <a:solidFill>
                  <a:schemeClr val="dk1"/>
                </a:solidFill>
              </a:rPr>
              <a:t>Dijkstra</a:t>
            </a:r>
            <a:endParaRPr b="1"/>
          </a:p>
        </p:txBody>
      </p:sp>
      <p:sp>
        <p:nvSpPr>
          <p:cNvPr id="152" name="Google Shape;152;p15"/>
          <p:cNvSpPr txBox="1"/>
          <p:nvPr>
            <p:ph idx="1" type="body"/>
          </p:nvPr>
        </p:nvSpPr>
        <p:spPr>
          <a:xfrm>
            <a:off x="311700" y="1114425"/>
            <a:ext cx="3984000" cy="34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s-MX" sz="1100">
                <a:solidFill>
                  <a:schemeClr val="dk1"/>
                </a:solidFill>
              </a:rPr>
              <a:t>Edsger Wybe Dijkstra</a:t>
            </a:r>
            <a:r>
              <a:rPr b="0" lang="es-MX" sz="1100">
                <a:solidFill>
                  <a:schemeClr val="dk1"/>
                </a:solidFill>
              </a:rPr>
              <a:t> (1930-2002) fue un influyente </a:t>
            </a:r>
            <a:r>
              <a:rPr lang="es-MX" sz="1100">
                <a:solidFill>
                  <a:schemeClr val="dk1"/>
                </a:solidFill>
              </a:rPr>
              <a:t>científico de la computación</a:t>
            </a:r>
            <a:r>
              <a:rPr b="0" lang="es-MX" sz="1100">
                <a:solidFill>
                  <a:schemeClr val="dk1"/>
                </a:solidFill>
              </a:rPr>
              <a:t> neerlandés, conocido por sus profundas contribuciones a la informática teórica y práctica.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MX" sz="1100">
                <a:solidFill>
                  <a:schemeClr val="dk1"/>
                </a:solidFill>
              </a:rPr>
              <a:t>Algoritmo de Dijkstra para encontrar la ruta de menor duración (el camino más corto) desde el aeropuerto de origen a todos los demás aeropuertos. Utiliza un heapq (cola de prioridad) para gestionar eficientemente los nodos a visitar.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153" name="Google Shape;153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5700" y="1114425"/>
            <a:ext cx="4743450" cy="345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a1a1f0c1f9_1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es-MX"/>
              <a:t>DFS(Depth First Search - </a:t>
            </a:r>
            <a:r>
              <a:rPr b="1" lang="es-MX"/>
              <a:t>Búsqueda</a:t>
            </a:r>
            <a:r>
              <a:rPr b="1" lang="es-MX"/>
              <a:t> en profundidad)</a:t>
            </a:r>
            <a:endParaRPr b="1"/>
          </a:p>
        </p:txBody>
      </p:sp>
      <p:sp>
        <p:nvSpPr>
          <p:cNvPr id="159" name="Google Shape;159;g3a1a1f0c1f9_1_0"/>
          <p:cNvSpPr txBox="1"/>
          <p:nvPr>
            <p:ph idx="1" type="body"/>
          </p:nvPr>
        </p:nvSpPr>
        <p:spPr>
          <a:xfrm>
            <a:off x="311700" y="1247738"/>
            <a:ext cx="3174600" cy="336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MX" sz="1100">
                <a:solidFill>
                  <a:schemeClr val="dk1"/>
                </a:solidFill>
              </a:rPr>
              <a:t> El DFS explora lo </a:t>
            </a:r>
            <a:r>
              <a:rPr lang="es-MX" sz="1100">
                <a:solidFill>
                  <a:schemeClr val="dk1"/>
                </a:solidFill>
              </a:rPr>
              <a:t>más lejos posible</a:t>
            </a:r>
            <a:r>
              <a:rPr b="0" lang="es-MX" sz="1100">
                <a:solidFill>
                  <a:schemeClr val="dk1"/>
                </a:solidFill>
              </a:rPr>
              <a:t> a lo largo de cada rama antes de "retroceder" (</a:t>
            </a:r>
            <a:r>
              <a:rPr b="0" i="1" lang="es-MX" sz="1100">
                <a:solidFill>
                  <a:schemeClr val="dk1"/>
                </a:solidFill>
              </a:rPr>
              <a:t>backtracking</a:t>
            </a:r>
            <a:r>
              <a:rPr b="0" lang="es-MX" sz="1100">
                <a:solidFill>
                  <a:schemeClr val="dk1"/>
                </a:solidFill>
              </a:rPr>
              <a:t>)</a:t>
            </a:r>
            <a:endParaRPr b="0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b="0" lang="es-MX" sz="1100">
                <a:solidFill>
                  <a:schemeClr val="dk1"/>
                </a:solidFill>
              </a:rPr>
              <a:t>Sirve para encontrar una ruta posible (No necesariamente la más corta)</a:t>
            </a:r>
            <a:endParaRPr b="0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lang="es-MX" sz="1100">
                <a:solidFill>
                  <a:schemeClr val="dk1"/>
                </a:solidFill>
              </a:rPr>
              <a:t>La complejidad temporal de DFS es O(V + E)</a:t>
            </a:r>
            <a:endParaRPr b="0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s-MX" sz="1100">
                <a:solidFill>
                  <a:schemeClr val="dk1"/>
                </a:solidFill>
              </a:rPr>
              <a:t>V (Vertices) es el número de nodos en el grafo.</a:t>
            </a:r>
            <a:endParaRPr b="0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s-MX" sz="1100">
                <a:solidFill>
                  <a:schemeClr val="dk1"/>
                </a:solidFill>
              </a:rPr>
              <a:t>E (Edges) es el número de aristas (conexiones) en el grafo.</a:t>
            </a:r>
            <a:endParaRPr b="0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s-MX" sz="1100">
                <a:solidFill>
                  <a:schemeClr val="dk1"/>
                </a:solidFill>
              </a:rPr>
              <a:t>Debe visitar cada nodo y explorar cada </a:t>
            </a:r>
            <a:r>
              <a:rPr b="0" lang="es-MX" sz="1100">
                <a:solidFill>
                  <a:schemeClr val="dk1"/>
                </a:solidFill>
              </a:rPr>
              <a:t>arista</a:t>
            </a:r>
            <a:endParaRPr b="0" sz="1100">
              <a:solidFill>
                <a:schemeClr val="dk1"/>
              </a:solidFill>
            </a:endParaRPr>
          </a:p>
        </p:txBody>
      </p:sp>
      <p:pic>
        <p:nvPicPr>
          <p:cNvPr id="160" name="Google Shape;160;g3a1a1f0c1f9_1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38700" y="1170125"/>
            <a:ext cx="5352900" cy="29291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a1a1f0c1f9_1_5"/>
          <p:cNvSpPr txBox="1"/>
          <p:nvPr>
            <p:ph type="title"/>
          </p:nvPr>
        </p:nvSpPr>
        <p:spPr>
          <a:xfrm>
            <a:off x="440875" y="4156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es-MX"/>
              <a:t>	BFS (Breadth-First Search - </a:t>
            </a:r>
            <a:r>
              <a:rPr b="1" lang="es-MX"/>
              <a:t>Búsqueda</a:t>
            </a:r>
            <a:r>
              <a:rPr b="1" lang="es-MX"/>
              <a:t> en anchura)</a:t>
            </a:r>
            <a:endParaRPr b="1"/>
          </a:p>
        </p:txBody>
      </p:sp>
      <p:sp>
        <p:nvSpPr>
          <p:cNvPr id="166" name="Google Shape;166;g3a1a1f0c1f9_1_5"/>
          <p:cNvSpPr txBox="1"/>
          <p:nvPr>
            <p:ph idx="1" type="body"/>
          </p:nvPr>
        </p:nvSpPr>
        <p:spPr>
          <a:xfrm>
            <a:off x="273600" y="1085775"/>
            <a:ext cx="3186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MX" sz="1100">
                <a:solidFill>
                  <a:schemeClr val="dk1"/>
                </a:solidFill>
              </a:rPr>
              <a:t>Explora el grafo nivel por nivel</a:t>
            </a:r>
            <a:r>
              <a:rPr b="0" lang="es-MX" sz="1100">
                <a:solidFill>
                  <a:schemeClr val="dk1"/>
                </a:solidFill>
              </a:rPr>
              <a:t>, primero visita todos los vecinos directos de un nodo, luego los vecinos de esos vecinos, y así sucesivamente. Utiliza una </a:t>
            </a:r>
            <a:r>
              <a:rPr lang="es-MX" sz="1100">
                <a:solidFill>
                  <a:schemeClr val="dk1"/>
                </a:solidFill>
              </a:rPr>
              <a:t>cola (FIFO - </a:t>
            </a:r>
            <a:r>
              <a:rPr i="1" lang="es-MX" sz="1100">
                <a:solidFill>
                  <a:schemeClr val="dk1"/>
                </a:solidFill>
              </a:rPr>
              <a:t>First-In, First-Out</a:t>
            </a:r>
            <a:r>
              <a:rPr lang="es-MX" sz="1100">
                <a:solidFill>
                  <a:schemeClr val="dk1"/>
                </a:solidFill>
              </a:rPr>
              <a:t>)</a:t>
            </a:r>
            <a:r>
              <a:rPr b="0" lang="es-MX" sz="1100">
                <a:solidFill>
                  <a:schemeClr val="dk1"/>
                </a:solidFill>
              </a:rPr>
              <a:t> para recordar qué nodos debe visitar a continuación.</a:t>
            </a:r>
            <a:endParaRPr b="0" sz="1100">
              <a:solidFill>
                <a:schemeClr val="dk1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100">
              <a:solidFill>
                <a:schemeClr val="dk1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es-MX" sz="1100">
                <a:solidFill>
                  <a:schemeClr val="dk1"/>
                </a:solidFill>
              </a:rPr>
              <a:t>Siempre procesa y completa todos los caminos de una longitud </a:t>
            </a:r>
            <a:r>
              <a:rPr b="0" i="1" lang="es-MX" sz="1100">
                <a:solidFill>
                  <a:schemeClr val="dk1"/>
                </a:solidFill>
              </a:rPr>
              <a:t>N</a:t>
            </a:r>
            <a:r>
              <a:rPr b="0" lang="es-MX" sz="1100">
                <a:solidFill>
                  <a:schemeClr val="dk1"/>
                </a:solidFill>
              </a:rPr>
              <a:t> antes de comenzar a explorar cualquier camino de longitud </a:t>
            </a:r>
            <a:r>
              <a:rPr b="0" i="1" lang="es-MX" sz="1100">
                <a:solidFill>
                  <a:schemeClr val="dk1"/>
                </a:solidFill>
              </a:rPr>
              <a:t>N+1</a:t>
            </a:r>
            <a:r>
              <a:rPr b="0" lang="es-MX" sz="1100">
                <a:solidFill>
                  <a:schemeClr val="dk1"/>
                </a:solidFill>
              </a:rPr>
              <a:t>. El primer camino que llega al destino es, por definición, el más corto.</a:t>
            </a:r>
            <a:endParaRPr b="0" sz="1100">
              <a:solidFill>
                <a:schemeClr val="dk1"/>
              </a:solidFill>
            </a:endParaRPr>
          </a:p>
        </p:txBody>
      </p:sp>
      <p:pic>
        <p:nvPicPr>
          <p:cNvPr id="167" name="Google Shape;167;g3a1a1f0c1f9_1_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69700" y="1085775"/>
            <a:ext cx="5187449" cy="3535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a1a1f0c1f9_1_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g3a1a1f0c1f9_1_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Usuario</dc:creator>
</cp:coreProperties>
</file>